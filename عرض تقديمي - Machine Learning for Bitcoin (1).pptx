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DM Sans" charset="1" panose="00000000000000000000"/>
      <p:regular r:id="rId15"/>
    </p:embeddedFont>
    <p:embeddedFont>
      <p:font typeface="Antique Olive Bold" charset="1" panose="020B0703020204030204"/>
      <p:regular r:id="rId16"/>
    </p:embeddedFont>
    <p:embeddedFont>
      <p:font typeface="Farro Bold" charset="1" panose="00000800000000000000"/>
      <p:regular r:id="rId17"/>
    </p:embeddedFont>
    <p:embeddedFont>
      <p:font typeface="Antique Olive" charset="1" panose="020B0603020204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25791" y="285750"/>
            <a:ext cx="7126185" cy="9715500"/>
            <a:chOff x="0" y="0"/>
            <a:chExt cx="1072489" cy="14621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2489" cy="1462180"/>
            </a:xfrm>
            <a:custGeom>
              <a:avLst/>
              <a:gdLst/>
              <a:ahLst/>
              <a:cxnLst/>
              <a:rect r="r" b="b" t="t" l="l"/>
              <a:pathLst>
                <a:path h="1462180" w="1072489">
                  <a:moveTo>
                    <a:pt x="32592" y="0"/>
                  </a:moveTo>
                  <a:lnTo>
                    <a:pt x="1039897" y="0"/>
                  </a:lnTo>
                  <a:cubicBezTo>
                    <a:pt x="1057897" y="0"/>
                    <a:pt x="1072489" y="14592"/>
                    <a:pt x="1072489" y="32592"/>
                  </a:cubicBezTo>
                  <a:lnTo>
                    <a:pt x="1072489" y="1429588"/>
                  </a:lnTo>
                  <a:cubicBezTo>
                    <a:pt x="1072489" y="1447588"/>
                    <a:pt x="1057897" y="1462180"/>
                    <a:pt x="1039897" y="1462180"/>
                  </a:cubicBezTo>
                  <a:lnTo>
                    <a:pt x="32592" y="1462180"/>
                  </a:lnTo>
                  <a:cubicBezTo>
                    <a:pt x="23948" y="1462180"/>
                    <a:pt x="15658" y="1458746"/>
                    <a:pt x="9546" y="1452634"/>
                  </a:cubicBezTo>
                  <a:cubicBezTo>
                    <a:pt x="3434" y="1446522"/>
                    <a:pt x="0" y="1438232"/>
                    <a:pt x="0" y="1429588"/>
                  </a:cubicBezTo>
                  <a:lnTo>
                    <a:pt x="0" y="32592"/>
                  </a:lnTo>
                  <a:cubicBezTo>
                    <a:pt x="0" y="14592"/>
                    <a:pt x="14592" y="0"/>
                    <a:pt x="3259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2" r="0" b="-15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14350" y="2037956"/>
            <a:ext cx="10067925" cy="269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376"/>
              </a:lnSpc>
            </a:pPr>
            <a:r>
              <a:rPr lang="en-US" sz="10376" spc="-31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Machine Learning for Bitcoin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4350" y="6196357"/>
            <a:ext cx="10752269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</a:pPr>
            <a:r>
              <a:rPr lang="en-US" b="true" sz="3600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BAQER MOHAMMED HUSSEIN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7637" y="6958213"/>
            <a:ext cx="10752269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</a:pPr>
            <a:r>
              <a:rPr lang="en-US" b="true" sz="3600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AHMED GHALIB SAAD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4350" y="7499233"/>
            <a:ext cx="10752269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</a:pPr>
            <a:r>
              <a:rPr lang="en-US" b="true" sz="3600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ALI SAJAD NAEEM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8953500"/>
            <a:chOff x="0" y="0"/>
            <a:chExt cx="523071" cy="680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071" cy="680065"/>
            </a:xfrm>
            <a:custGeom>
              <a:avLst/>
              <a:gdLst/>
              <a:ahLst/>
              <a:cxnLst/>
              <a:rect r="r" b="b" t="t" l="l"/>
              <a:pathLst>
                <a:path h="680065" w="523071">
                  <a:moveTo>
                    <a:pt x="56210" y="0"/>
                  </a:moveTo>
                  <a:lnTo>
                    <a:pt x="466861" y="0"/>
                  </a:lnTo>
                  <a:cubicBezTo>
                    <a:pt x="497905" y="0"/>
                    <a:pt x="523071" y="25166"/>
                    <a:pt x="523071" y="56210"/>
                  </a:cubicBezTo>
                  <a:lnTo>
                    <a:pt x="523071" y="623855"/>
                  </a:lnTo>
                  <a:cubicBezTo>
                    <a:pt x="523071" y="654899"/>
                    <a:pt x="497905" y="680065"/>
                    <a:pt x="466861" y="680065"/>
                  </a:cubicBezTo>
                  <a:lnTo>
                    <a:pt x="56210" y="680065"/>
                  </a:lnTo>
                  <a:cubicBezTo>
                    <a:pt x="25166" y="680065"/>
                    <a:pt x="0" y="654899"/>
                    <a:pt x="0" y="623855"/>
                  </a:cubicBezTo>
                  <a:lnTo>
                    <a:pt x="0" y="56210"/>
                  </a:lnTo>
                  <a:cubicBezTo>
                    <a:pt x="0" y="25166"/>
                    <a:pt x="25166" y="0"/>
                    <a:pt x="5621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7684618" y="193675"/>
            <a:ext cx="8324850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b="true" sz="8000" spc="-160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Agenda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30130" y="1273175"/>
            <a:ext cx="7842343" cy="2390415"/>
            <a:chOff x="0" y="0"/>
            <a:chExt cx="10456457" cy="31872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8911" cy="509830"/>
            </a:xfrm>
            <a:custGeom>
              <a:avLst/>
              <a:gdLst/>
              <a:ahLst/>
              <a:cxnLst/>
              <a:rect r="r" b="b" t="t" l="l"/>
              <a:pathLst>
                <a:path h="509830" w="518911">
                  <a:moveTo>
                    <a:pt x="0" y="0"/>
                  </a:moveTo>
                  <a:lnTo>
                    <a:pt x="518911" y="0"/>
                  </a:lnTo>
                  <a:lnTo>
                    <a:pt x="518911" y="509830"/>
                  </a:lnTo>
                  <a:lnTo>
                    <a:pt x="0" y="509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098562" y="-38100"/>
              <a:ext cx="8083538" cy="759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60"/>
                </a:lnSpc>
              </a:pPr>
              <a:r>
                <a:rPr lang="en-US" b="true" sz="3600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DATA COLLECTION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18911" y="626110"/>
              <a:ext cx="9937546" cy="2561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54"/>
                </a:lnSpc>
              </a:pPr>
              <a:r>
                <a:rPr lang="en-US" sz="218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• D</a:t>
              </a:r>
              <a:r>
                <a:rPr lang="en-US" sz="218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ownloading Bitcoin historical data</a:t>
              </a:r>
            </a:p>
            <a:p>
              <a:pPr algn="l" marL="0" indent="0" lvl="0">
                <a:lnSpc>
                  <a:spcPts val="3054"/>
                </a:lnSpc>
              </a:pPr>
              <a:r>
                <a:rPr lang="en-US" sz="218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Using yFinance to get Open, High, Low, Close, Volume</a:t>
              </a:r>
            </a:p>
            <a:p>
              <a:pPr algn="l" marL="0" indent="0" lvl="0">
                <a:lnSpc>
                  <a:spcPts val="3054"/>
                </a:lnSpc>
              </a:pPr>
              <a:r>
                <a:rPr lang="en-US" sz="218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Adding technical indicators (SMA, EMA, RSI, MACD)</a:t>
              </a:r>
            </a:p>
            <a:p>
              <a:pPr algn="l" marL="0" indent="0" lvl="0">
                <a:lnSpc>
                  <a:spcPts val="305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930130" y="3663590"/>
            <a:ext cx="6886575" cy="541020"/>
            <a:chOff x="0" y="0"/>
            <a:chExt cx="9182100" cy="721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8911" cy="509830"/>
            </a:xfrm>
            <a:custGeom>
              <a:avLst/>
              <a:gdLst/>
              <a:ahLst/>
              <a:cxnLst/>
              <a:rect r="r" b="b" t="t" l="l"/>
              <a:pathLst>
                <a:path h="509830" w="518911">
                  <a:moveTo>
                    <a:pt x="0" y="0"/>
                  </a:moveTo>
                  <a:lnTo>
                    <a:pt x="518911" y="0"/>
                  </a:lnTo>
                  <a:lnTo>
                    <a:pt x="518911" y="509830"/>
                  </a:lnTo>
                  <a:lnTo>
                    <a:pt x="0" y="509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098562" y="-38100"/>
              <a:ext cx="8083538" cy="759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MODEL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 DESIGN (LSTM)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90992" y="4240530"/>
            <a:ext cx="6062653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 • Building an LS</a:t>
            </a: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TM neural network</a:t>
            </a:r>
          </a:p>
          <a:p>
            <a:pPr algn="l" marL="0" indent="0" lvl="0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 • Layers: LSTM, Dropout, Dense</a:t>
            </a:r>
          </a:p>
          <a:p>
            <a:pPr algn="l" marL="0" indent="0" lvl="0">
              <a:lnSpc>
                <a:spcPts val="3360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949408" y="5452796"/>
            <a:ext cx="389183" cy="382372"/>
          </a:xfrm>
          <a:custGeom>
            <a:avLst/>
            <a:gdLst/>
            <a:ahLst/>
            <a:cxnLst/>
            <a:rect r="r" b="b" t="t" l="l"/>
            <a:pathLst>
              <a:path h="382372" w="389183">
                <a:moveTo>
                  <a:pt x="0" y="0"/>
                </a:moveTo>
                <a:lnTo>
                  <a:pt x="389184" y="0"/>
                </a:lnTo>
                <a:lnTo>
                  <a:pt x="389184" y="382372"/>
                </a:lnTo>
                <a:lnTo>
                  <a:pt x="0" y="382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490992" y="5335372"/>
            <a:ext cx="6062653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 MODEL T</a:t>
            </a:r>
            <a:r>
              <a:rPr lang="en-US" b="true" sz="3600" strike="noStrike" u="none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R</a:t>
            </a:r>
            <a:r>
              <a:rPr lang="en-US" b="true" sz="3600" strike="noStrike" u="none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A</a:t>
            </a:r>
            <a:r>
              <a:rPr lang="en-US" b="true" sz="3600" strike="noStrike" u="none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I</a:t>
            </a:r>
            <a:r>
              <a:rPr lang="en-US" b="true" sz="3600" strike="noStrike" u="none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N</a:t>
            </a:r>
            <a:r>
              <a:rPr lang="en-US" b="true" sz="3600" strike="noStrike" u="none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IN</a:t>
            </a:r>
            <a:r>
              <a:rPr lang="en-US" b="true" sz="3600" strike="noStrike" u="none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0992" y="5952592"/>
            <a:ext cx="7281481" cy="171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 • Sp</a:t>
            </a: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litting into training &amp; testing sets</a:t>
            </a:r>
          </a:p>
          <a:p>
            <a:pPr algn="l" marL="0" indent="0" lvl="0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 • Training the model for 60 epochs</a:t>
            </a:r>
          </a:p>
          <a:p>
            <a:pPr algn="l" marL="0" indent="0" lvl="0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 • Using EarlyStopping &amp; ModelCheckpoint</a:t>
            </a:r>
          </a:p>
          <a:p>
            <a:pPr algn="l" marL="0" indent="0" lvl="0">
              <a:lnSpc>
                <a:spcPts val="336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-2700000">
            <a:off x="14655710" y="7765390"/>
            <a:ext cx="5043220" cy="5043220"/>
          </a:xfrm>
          <a:custGeom>
            <a:avLst/>
            <a:gdLst/>
            <a:ahLst/>
            <a:cxnLst/>
            <a:rect r="r" b="b" t="t" l="l"/>
            <a:pathLst>
              <a:path h="5043220" w="5043220">
                <a:moveTo>
                  <a:pt x="0" y="0"/>
                </a:moveTo>
                <a:lnTo>
                  <a:pt x="5043221" y="0"/>
                </a:lnTo>
                <a:lnTo>
                  <a:pt x="5043221" y="5043220"/>
                </a:lnTo>
                <a:lnTo>
                  <a:pt x="0" y="50432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8930130" y="7392772"/>
            <a:ext cx="6886575" cy="541020"/>
            <a:chOff x="0" y="0"/>
            <a:chExt cx="9182100" cy="721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8911" cy="509830"/>
            </a:xfrm>
            <a:custGeom>
              <a:avLst/>
              <a:gdLst/>
              <a:ahLst/>
              <a:cxnLst/>
              <a:rect r="r" b="b" t="t" l="l"/>
              <a:pathLst>
                <a:path h="509830" w="518911">
                  <a:moveTo>
                    <a:pt x="0" y="0"/>
                  </a:moveTo>
                  <a:lnTo>
                    <a:pt x="518911" y="0"/>
                  </a:lnTo>
                  <a:lnTo>
                    <a:pt x="518911" y="509830"/>
                  </a:lnTo>
                  <a:lnTo>
                    <a:pt x="0" y="509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098562" y="-38100"/>
              <a:ext cx="8083538" cy="759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PR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E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D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I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CTIO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N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86501" y="7909560"/>
            <a:ext cx="8072799" cy="171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 • Pred</a:t>
            </a: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icting test prices</a:t>
            </a:r>
          </a:p>
          <a:p>
            <a:pPr algn="l" marL="0" indent="0" lvl="0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 • Inverse-transforming predictions back to USD</a:t>
            </a:r>
          </a:p>
          <a:p>
            <a:pPr algn="l" marL="0" indent="0" lvl="0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 • Saving predictions to CSV</a:t>
            </a:r>
          </a:p>
          <a:p>
            <a:pPr algn="l" marL="0" indent="0" lvl="0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 • Plotting Real vs Predicted prices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760" y="126669"/>
            <a:ext cx="8853448" cy="1176891"/>
            <a:chOff x="0" y="0"/>
            <a:chExt cx="11804598" cy="156918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5725"/>
              <a:ext cx="11804598" cy="9970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56"/>
                </a:lnSpc>
                <a:spcBef>
                  <a:spcPct val="0"/>
                </a:spcBef>
              </a:pPr>
              <a:r>
                <a:rPr lang="en-US" b="true" sz="5356" spc="-107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Libr</a:t>
              </a:r>
              <a:r>
                <a:rPr lang="en-US" b="true" sz="5356" spc="-107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a</a:t>
              </a:r>
              <a:r>
                <a:rPr lang="en-US" b="true" sz="5356" spc="-107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ries Used in </a:t>
              </a:r>
              <a:r>
                <a:rPr lang="en-US" b="true" sz="5356" spc="-107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t</a:t>
              </a:r>
              <a:r>
                <a:rPr lang="en-US" b="true" sz="5356" spc="-107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he</a:t>
              </a:r>
              <a:r>
                <a:rPr lang="en-US" b="true" sz="5356" spc="-107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 </a:t>
              </a:r>
              <a:r>
                <a:rPr lang="en-US" b="true" sz="5356" spc="-107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Pr</a:t>
              </a:r>
              <a:r>
                <a:rPr lang="en-US" b="true" sz="5356" spc="-107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o</a:t>
              </a:r>
              <a:r>
                <a:rPr lang="en-US" b="true" sz="5356" spc="-107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j</a:t>
              </a:r>
              <a:r>
                <a:rPr lang="en-US" b="true" sz="5356" spc="-107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ect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14294"/>
              <a:ext cx="11804598" cy="4548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0471" y="2151029"/>
            <a:ext cx="7271540" cy="1737360"/>
            <a:chOff x="0" y="0"/>
            <a:chExt cx="9695387" cy="231647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8100"/>
              <a:ext cx="9182100" cy="759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NUMPY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26110"/>
              <a:ext cx="9695387" cy="1690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• Used f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or f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ast n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ume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ric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al calculations.</a:t>
              </a:r>
            </a:p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Helps the model handle large arrays of data.</a:t>
              </a:r>
            </a:p>
            <a:p>
              <a:pPr algn="l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81938" y="1337573"/>
            <a:ext cx="546762" cy="546762"/>
            <a:chOff x="0" y="0"/>
            <a:chExt cx="729016" cy="72901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29016" cy="72901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80779" y="68607"/>
              <a:ext cx="567459" cy="534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Farro Bold"/>
                  <a:ea typeface="Farro Bold"/>
                  <a:cs typeface="Farro Bold"/>
                  <a:sym typeface="Farro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81938" y="3615000"/>
            <a:ext cx="546762" cy="546776"/>
            <a:chOff x="0" y="0"/>
            <a:chExt cx="729016" cy="72903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729016" cy="729034"/>
              <a:chOff x="0" y="0"/>
              <a:chExt cx="812800" cy="81282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20"/>
              </a:xfrm>
              <a:custGeom>
                <a:avLst/>
                <a:gdLst/>
                <a:ahLst/>
                <a:cxnLst/>
                <a:rect r="r" b="b" t="t" l="l"/>
                <a:pathLst>
                  <a:path h="812820" w="812800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20"/>
                      <a:pt x="406400" y="812820"/>
                    </a:cubicBezTo>
                    <a:cubicBezTo>
                      <a:pt x="630849" y="812820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19052"/>
                <a:ext cx="660400" cy="7175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80779" y="68607"/>
              <a:ext cx="567459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Farro Bold"/>
                  <a:ea typeface="Farro Bold"/>
                  <a:cs typeface="Farro Bold"/>
                  <a:sym typeface="Farro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1938" y="6180348"/>
            <a:ext cx="546762" cy="546776"/>
            <a:chOff x="0" y="0"/>
            <a:chExt cx="729016" cy="729034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29016" cy="729034"/>
              <a:chOff x="0" y="0"/>
              <a:chExt cx="812800" cy="81282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20"/>
              </a:xfrm>
              <a:custGeom>
                <a:avLst/>
                <a:gdLst/>
                <a:ahLst/>
                <a:cxnLst/>
                <a:rect r="r" b="b" t="t" l="l"/>
                <a:pathLst>
                  <a:path h="812820" w="812800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20"/>
                      <a:pt x="406400" y="812820"/>
                    </a:cubicBezTo>
                    <a:cubicBezTo>
                      <a:pt x="630849" y="812820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19052"/>
                <a:ext cx="660400" cy="7175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80779" y="68607"/>
              <a:ext cx="567459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Farro Bold"/>
                  <a:ea typeface="Farro Bold"/>
                  <a:cs typeface="Farro Bold"/>
                  <a:sym typeface="Farro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0" y="126669"/>
            <a:ext cx="546762" cy="546776"/>
            <a:chOff x="0" y="0"/>
            <a:chExt cx="729016" cy="72903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729016" cy="729034"/>
              <a:chOff x="0" y="0"/>
              <a:chExt cx="812800" cy="81282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20"/>
              </a:xfrm>
              <a:custGeom>
                <a:avLst/>
                <a:gdLst/>
                <a:ahLst/>
                <a:cxnLst/>
                <a:rect r="r" b="b" t="t" l="l"/>
                <a:pathLst>
                  <a:path h="812820" w="812800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20"/>
                      <a:pt x="406400" y="812820"/>
                    </a:cubicBezTo>
                    <a:cubicBezTo>
                      <a:pt x="630849" y="812820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19052"/>
                <a:ext cx="660400" cy="7175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80779" y="68607"/>
              <a:ext cx="567459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Farro Bold"/>
                  <a:ea typeface="Farro Bold"/>
                  <a:cs typeface="Farro Bold"/>
                  <a:sym typeface="Farro Bold"/>
                </a:rPr>
                <a:t>4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74454" y="4332726"/>
            <a:ext cx="7463576" cy="2121010"/>
            <a:chOff x="0" y="0"/>
            <a:chExt cx="9951434" cy="2828013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370111" y="-38100"/>
              <a:ext cx="2223480" cy="1774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7"/>
                </a:lnSpc>
              </a:pPr>
              <a:r>
                <a:rPr lang="en-US" sz="306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PANDAS</a:t>
              </a:r>
            </a:p>
            <a:p>
              <a:pPr algn="l">
                <a:lnSpc>
                  <a:spcPts val="3367"/>
                </a:lnSpc>
              </a:pPr>
              <a:r>
                <a:rPr lang="en-US" sz="3061" b="tru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 </a:t>
              </a:r>
            </a:p>
            <a:p>
              <a:pPr algn="l" marL="0" indent="0" lvl="0">
                <a:lnSpc>
                  <a:spcPts val="3367"/>
                </a:lnSpc>
                <a:spcBef>
                  <a:spcPct val="0"/>
                </a:spcBef>
              </a:pP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540333"/>
              <a:ext cx="9951434" cy="2287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05"/>
                </a:lnSpc>
              </a:pPr>
              <a:r>
                <a:rPr lang="en-US" sz="2432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• Used t</a:t>
              </a:r>
              <a:r>
                <a:rPr lang="en-US" sz="2432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o lo</a:t>
              </a:r>
              <a:r>
                <a:rPr lang="en-US" sz="2432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ad and organize</a:t>
              </a:r>
              <a:r>
                <a:rPr lang="en-US" sz="2432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Bitcoin price data.</a:t>
              </a:r>
            </a:p>
            <a:p>
              <a:pPr algn="l" marL="0" indent="0" lvl="0">
                <a:lnSpc>
                  <a:spcPts val="3405"/>
                </a:lnSpc>
              </a:pPr>
              <a:r>
                <a:rPr lang="en-US" sz="2432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Makes it easy to work with tables, dates, and indicators.</a:t>
              </a:r>
            </a:p>
            <a:p>
              <a:pPr algn="l" marL="0" indent="0" lvl="0">
                <a:lnSpc>
                  <a:spcPts val="3405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70471" y="6898574"/>
            <a:ext cx="8147959" cy="2121010"/>
            <a:chOff x="0" y="0"/>
            <a:chExt cx="10863945" cy="2828013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370111" y="-38100"/>
              <a:ext cx="4134049" cy="651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7"/>
                </a:lnSpc>
                <a:spcBef>
                  <a:spcPct val="0"/>
                </a:spcBef>
              </a:pPr>
              <a:r>
                <a:rPr lang="en-US" sz="306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YFINANCE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540333"/>
              <a:ext cx="10863945" cy="2287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05"/>
                </a:lnSpc>
              </a:pPr>
              <a:r>
                <a:rPr lang="en-US" sz="2432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D</a:t>
              </a:r>
              <a:r>
                <a:rPr lang="en-US" sz="2432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ownlo</a:t>
              </a:r>
              <a:r>
                <a:rPr lang="en-US" sz="2432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ads real</a:t>
              </a:r>
              <a:r>
                <a:rPr lang="en-US" sz="2432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Bitcoin historical prices from Yahoo Finance.</a:t>
              </a:r>
            </a:p>
            <a:p>
              <a:pPr algn="l" marL="0" indent="0" lvl="0">
                <a:lnSpc>
                  <a:spcPts val="3405"/>
                </a:lnSpc>
              </a:pPr>
              <a:r>
                <a:rPr lang="en-US" sz="2432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Provides: Open, High, Low, Close, Volume.</a:t>
              </a:r>
            </a:p>
            <a:p>
              <a:pPr algn="l" marL="0" indent="0" lvl="0">
                <a:lnSpc>
                  <a:spcPts val="3405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0" y="863249"/>
            <a:ext cx="7271540" cy="2156460"/>
            <a:chOff x="0" y="0"/>
            <a:chExt cx="9695387" cy="2875279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38100"/>
              <a:ext cx="9182100" cy="759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MATPLOTLIB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626110"/>
              <a:ext cx="9695387" cy="2249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Used t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o draw ch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arts:</a:t>
              </a:r>
            </a:p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R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eal vs Predicted prices</a:t>
              </a:r>
            </a:p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Visualizing the model’s performance</a:t>
              </a:r>
            </a:p>
            <a:p>
              <a:pPr algn="l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17381" y="3483596"/>
            <a:ext cx="7271540" cy="2156460"/>
            <a:chOff x="0" y="0"/>
            <a:chExt cx="9695387" cy="2875279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0" y="-38100"/>
              <a:ext cx="9182100" cy="759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SCIKIT-LEARN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626110"/>
              <a:ext cx="9695387" cy="2249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• Provides t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ools fo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r:</a:t>
              </a:r>
            </a:p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Sc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aling data (MinMaxScaler)</a:t>
              </a:r>
            </a:p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Measuring accuracy (MAE, RMSE, R²)</a:t>
              </a:r>
            </a:p>
            <a:p>
              <a:pPr algn="l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0" y="2746321"/>
            <a:ext cx="546762" cy="546776"/>
            <a:chOff x="0" y="0"/>
            <a:chExt cx="729016" cy="729034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729016" cy="729034"/>
              <a:chOff x="0" y="0"/>
              <a:chExt cx="812800" cy="81282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812820"/>
              </a:xfrm>
              <a:custGeom>
                <a:avLst/>
                <a:gdLst/>
                <a:ahLst/>
                <a:cxnLst/>
                <a:rect r="r" b="b" t="t" l="l"/>
                <a:pathLst>
                  <a:path h="812820" w="812800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20"/>
                      <a:pt x="406400" y="812820"/>
                    </a:cubicBezTo>
                    <a:cubicBezTo>
                      <a:pt x="630849" y="812820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6200" y="19052"/>
                <a:ext cx="660400" cy="7175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80779" y="68607"/>
              <a:ext cx="567459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Farro Bold"/>
                  <a:ea typeface="Farro Bold"/>
                  <a:cs typeface="Farro Bold"/>
                  <a:sym typeface="Farro Bold"/>
                </a:rPr>
                <a:t>5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0" y="5393231"/>
            <a:ext cx="546762" cy="546776"/>
            <a:chOff x="0" y="0"/>
            <a:chExt cx="729016" cy="729034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729016" cy="729034"/>
              <a:chOff x="0" y="0"/>
              <a:chExt cx="812800" cy="81282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20"/>
              </a:xfrm>
              <a:custGeom>
                <a:avLst/>
                <a:gdLst/>
                <a:ahLst/>
                <a:cxnLst/>
                <a:rect r="r" b="b" t="t" l="l"/>
                <a:pathLst>
                  <a:path h="812820" w="812800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20"/>
                      <a:pt x="406400" y="812820"/>
                    </a:cubicBezTo>
                    <a:cubicBezTo>
                      <a:pt x="630849" y="812820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19052"/>
                <a:ext cx="660400" cy="7175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80779" y="68607"/>
              <a:ext cx="567459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Farro Bold"/>
                  <a:ea typeface="Farro Bold"/>
                  <a:cs typeface="Farro Bold"/>
                  <a:sym typeface="Farro Bold"/>
                </a:rPr>
                <a:t>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17381" y="6130507"/>
            <a:ext cx="7271540" cy="2156460"/>
            <a:chOff x="0" y="0"/>
            <a:chExt cx="9695387" cy="2875279"/>
          </a:xfrm>
        </p:grpSpPr>
        <p:sp>
          <p:nvSpPr>
            <p:cNvPr name="TextBox 51" id="51"/>
            <p:cNvSpPr txBox="true"/>
            <p:nvPr/>
          </p:nvSpPr>
          <p:spPr>
            <a:xfrm rot="0">
              <a:off x="0" y="-38100"/>
              <a:ext cx="9182100" cy="759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TENSORFLOW / KERAS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0" y="626110"/>
              <a:ext cx="9695387" cy="2249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• The “brain” of the project.</a:t>
              </a:r>
            </a:p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U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sed to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build 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and train the LSTM neural network.</a:t>
              </a:r>
            </a:p>
            <a:p>
              <a:pPr algn="l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17381" y="8035507"/>
            <a:ext cx="546762" cy="546776"/>
            <a:chOff x="0" y="0"/>
            <a:chExt cx="729016" cy="729034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729016" cy="729034"/>
              <a:chOff x="0" y="0"/>
              <a:chExt cx="812800" cy="81282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812820"/>
              </a:xfrm>
              <a:custGeom>
                <a:avLst/>
                <a:gdLst/>
                <a:ahLst/>
                <a:cxnLst/>
                <a:rect r="r" b="b" t="t" l="l"/>
                <a:pathLst>
                  <a:path h="812820" w="812800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20"/>
                      <a:pt x="406400" y="812820"/>
                    </a:cubicBezTo>
                    <a:cubicBezTo>
                      <a:pt x="630849" y="812820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76200" y="19052"/>
                <a:ext cx="660400" cy="7175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80779" y="68607"/>
              <a:ext cx="567459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Farro Bold"/>
                  <a:ea typeface="Farro Bold"/>
                  <a:cs typeface="Farro Bold"/>
                  <a:sym typeface="Farro Bold"/>
                </a:rPr>
                <a:t>7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987760" y="8308894"/>
            <a:ext cx="7271540" cy="1737360"/>
            <a:chOff x="0" y="0"/>
            <a:chExt cx="9695387" cy="2316479"/>
          </a:xfrm>
        </p:grpSpPr>
        <p:sp>
          <p:nvSpPr>
            <p:cNvPr name="TextBox 59" id="59"/>
            <p:cNvSpPr txBox="true"/>
            <p:nvPr/>
          </p:nvSpPr>
          <p:spPr>
            <a:xfrm rot="0">
              <a:off x="0" y="-38100"/>
              <a:ext cx="9182100" cy="759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OS &amp; MATH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0" y="626110"/>
              <a:ext cx="9695387" cy="1690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• OS: file saving &amp; detecting files</a:t>
              </a:r>
            </a:p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Ma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th: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calcul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ating RMSE and other metrics</a:t>
              </a:r>
            </a:p>
            <a:p>
              <a:pPr algn="l" marL="0" indent="0" lvl="0">
                <a:lnSpc>
                  <a:spcPts val="336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58684" y="220138"/>
            <a:ext cx="10256420" cy="107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10"/>
              </a:lnSpc>
              <a:spcBef>
                <a:spcPct val="0"/>
              </a:spcBef>
            </a:pPr>
            <a:r>
              <a:rPr lang="en-US" b="true" sz="4110" spc="-82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How the AI Model Le</a:t>
            </a:r>
            <a:r>
              <a:rPr lang="en-US" b="true" sz="4110" spc="-82" strike="noStrike" u="none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a</a:t>
            </a:r>
            <a:r>
              <a:rPr lang="en-US" b="true" sz="4110" spc="-82" strike="noStrike" u="none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rns (Tr</a:t>
            </a:r>
            <a:r>
              <a:rPr lang="en-US" b="true" sz="4110" spc="-82" strike="noStrike" u="none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a</a:t>
            </a:r>
            <a:r>
              <a:rPr lang="en-US" b="true" sz="4110" spc="-82" strike="noStrike" u="none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in</a:t>
            </a:r>
            <a:r>
              <a:rPr lang="en-US" b="true" sz="4110" spc="-82" strike="noStrike" u="none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in</a:t>
            </a:r>
            <a:r>
              <a:rPr lang="en-US" b="true" sz="4110" spc="-82" strike="noStrike" u="none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g Process)</a:t>
            </a:r>
          </a:p>
          <a:p>
            <a:pPr algn="l" marL="0" indent="0" lvl="0">
              <a:lnSpc>
                <a:spcPts val="4110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3629621" y="0"/>
            <a:ext cx="4866606" cy="10287000"/>
            <a:chOff x="0" y="0"/>
            <a:chExt cx="816457" cy="17258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6457" cy="1725821"/>
            </a:xfrm>
            <a:custGeom>
              <a:avLst/>
              <a:gdLst/>
              <a:ahLst/>
              <a:cxnLst/>
              <a:rect r="r" b="b" t="t" l="l"/>
              <a:pathLst>
                <a:path h="1725821" w="816457">
                  <a:moveTo>
                    <a:pt x="0" y="0"/>
                  </a:moveTo>
                  <a:lnTo>
                    <a:pt x="816457" y="0"/>
                  </a:lnTo>
                  <a:lnTo>
                    <a:pt x="816457" y="1725821"/>
                  </a:lnTo>
                  <a:lnTo>
                    <a:pt x="0" y="1725821"/>
                  </a:lnTo>
                  <a:close/>
                </a:path>
              </a:pathLst>
            </a:custGeom>
            <a:blipFill>
              <a:blip r:embed="rId2"/>
              <a:stretch>
                <a:fillRect l="-43535" t="0" r="-43535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06514" y="1272561"/>
            <a:ext cx="10256420" cy="1735172"/>
            <a:chOff x="0" y="0"/>
            <a:chExt cx="13675226" cy="231356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28575"/>
              <a:ext cx="12951241" cy="609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6"/>
                </a:lnSpc>
                <a:spcBef>
                  <a:spcPct val="0"/>
                </a:spcBef>
              </a:pPr>
              <a:r>
                <a:rPr lang="en-US" b="true" sz="2896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1) TRAINING DATA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94710"/>
              <a:ext cx="13675226" cy="181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3"/>
                </a:lnSpc>
              </a:pPr>
              <a:r>
                <a:rPr lang="en-US" sz="193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• The model </a:t>
              </a:r>
              <a:r>
                <a:rPr lang="en-US" sz="193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receives 90 d</a:t>
              </a:r>
              <a:r>
                <a:rPr lang="en-US" sz="193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ays of Bitcoin prices</a:t>
              </a:r>
              <a:r>
                <a:rPr lang="en-US" sz="193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+ indicators as input.</a:t>
              </a:r>
            </a:p>
            <a:p>
              <a:pPr algn="l" marL="0" indent="0" lvl="0">
                <a:lnSpc>
                  <a:spcPts val="2703"/>
                </a:lnSpc>
              </a:pPr>
              <a:r>
                <a:rPr lang="en-US" sz="193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It learns to predict the next day’s Close price.</a:t>
              </a:r>
            </a:p>
            <a:p>
              <a:pPr algn="l" marL="0" indent="0" lvl="0">
                <a:lnSpc>
                  <a:spcPts val="2703"/>
                </a:lnSpc>
              </a:pPr>
              <a:r>
                <a:rPr lang="en-US" sz="193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This repeats for every day in the dataset.</a:t>
              </a:r>
            </a:p>
            <a:p>
              <a:pPr algn="l" marL="0" indent="0" lvl="0">
                <a:lnSpc>
                  <a:spcPts val="270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54339" y="3007733"/>
            <a:ext cx="11721790" cy="2306328"/>
            <a:chOff x="0" y="0"/>
            <a:chExt cx="15629054" cy="307510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335303" y="-28575"/>
              <a:ext cx="14802246" cy="584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50"/>
                </a:lnSpc>
                <a:spcBef>
                  <a:spcPct val="0"/>
                </a:spcBef>
              </a:pPr>
              <a:r>
                <a:rPr lang="en-US" sz="277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2) LSTM LEARNING PROCESS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98712"/>
              <a:ext cx="15629054" cy="2576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4"/>
                </a:lnSpc>
              </a:pPr>
              <a:r>
                <a:rPr lang="en-US" sz="220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• LSTM l</a:t>
              </a:r>
              <a:r>
                <a:rPr lang="en-US" sz="220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ooks for</a:t>
              </a:r>
              <a:r>
                <a:rPr lang="en-US" sz="220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patterns over time,</a:t>
              </a:r>
              <a:r>
                <a:rPr lang="en-US" sz="220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such as:</a:t>
              </a:r>
            </a:p>
            <a:p>
              <a:pPr algn="l" marL="0" indent="0" lvl="0">
                <a:lnSpc>
                  <a:spcPts val="3084"/>
                </a:lnSpc>
              </a:pPr>
              <a:r>
                <a:rPr lang="en-US" sz="220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Upward or downward trends</a:t>
              </a:r>
            </a:p>
            <a:p>
              <a:pPr algn="l" marL="0" indent="0" lvl="0">
                <a:lnSpc>
                  <a:spcPts val="3084"/>
                </a:lnSpc>
              </a:pPr>
              <a:r>
                <a:rPr lang="en-US" sz="220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Price momentum</a:t>
              </a:r>
            </a:p>
            <a:p>
              <a:pPr algn="l" marL="0" indent="0" lvl="0">
                <a:lnSpc>
                  <a:spcPts val="3084"/>
                </a:lnSpc>
              </a:pPr>
              <a:r>
                <a:rPr lang="en-US" sz="220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Repeated behaviors in the market</a:t>
              </a:r>
            </a:p>
            <a:p>
              <a:pPr algn="l" marL="0" indent="0" lvl="0">
                <a:lnSpc>
                  <a:spcPts val="3084"/>
                </a:lnSpc>
              </a:pPr>
              <a:r>
                <a:rPr lang="en-US" sz="220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It adjusts its internal weights every time it sees an error.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06514" y="5704586"/>
            <a:ext cx="14160759" cy="2254321"/>
            <a:chOff x="0" y="0"/>
            <a:chExt cx="18881012" cy="3005762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405070" y="-28575"/>
              <a:ext cx="17882169" cy="571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81"/>
                </a:lnSpc>
                <a:spcBef>
                  <a:spcPct val="0"/>
                </a:spcBef>
              </a:pPr>
              <a:r>
                <a:rPr lang="en-US" sz="271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3) REDUCING ERROR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76009"/>
              <a:ext cx="18881012" cy="2529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15"/>
                </a:lnSpc>
              </a:pPr>
              <a:r>
                <a:rPr lang="en-US" sz="215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The model ma</a:t>
              </a:r>
              <a:r>
                <a:rPr lang="en-US" sz="215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kes a</a:t>
              </a:r>
              <a:r>
                <a:rPr lang="en-US" sz="215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predi</a:t>
              </a:r>
              <a:r>
                <a:rPr lang="en-US" sz="215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ction.</a:t>
              </a:r>
            </a:p>
            <a:p>
              <a:pPr algn="l" marL="0" indent="0" lvl="0">
                <a:lnSpc>
                  <a:spcPts val="3015"/>
                </a:lnSpc>
              </a:pPr>
              <a:r>
                <a:rPr lang="en-US" sz="215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It compares prediction vs actual price.</a:t>
              </a:r>
            </a:p>
            <a:p>
              <a:pPr algn="l" marL="0" indent="0" lvl="0">
                <a:lnSpc>
                  <a:spcPts val="3015"/>
                </a:lnSpc>
              </a:pPr>
              <a:r>
                <a:rPr lang="en-US" sz="215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It calculates loss (error).</a:t>
              </a:r>
            </a:p>
            <a:p>
              <a:pPr algn="l" marL="0" indent="0" lvl="0">
                <a:lnSpc>
                  <a:spcPts val="3015"/>
                </a:lnSpc>
              </a:pPr>
              <a:r>
                <a:rPr lang="en-US" sz="215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It adjusts itself to reduce this error next time.</a:t>
              </a:r>
            </a:p>
            <a:p>
              <a:pPr algn="l" marL="0" indent="0" lvl="0">
                <a:lnSpc>
                  <a:spcPts val="3015"/>
                </a:lnSpc>
              </a:pPr>
              <a:r>
                <a:rPr lang="en-US" sz="2153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This happens for 60 epochs (60 full training cycles).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18605" y="8206557"/>
            <a:ext cx="10911017" cy="1072268"/>
            <a:chOff x="0" y="0"/>
            <a:chExt cx="14548022" cy="142969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312110" y="-38100"/>
              <a:ext cx="13778403" cy="555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39"/>
                </a:lnSpc>
                <a:spcBef>
                  <a:spcPct val="0"/>
                </a:spcBef>
              </a:pPr>
              <a:r>
                <a:rPr lang="en-US" sz="258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4) VALIDATION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58288"/>
              <a:ext cx="14548022" cy="971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1"/>
                </a:lnSpc>
              </a:pPr>
              <a:r>
                <a:rPr lang="en-US" sz="205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Part </a:t>
              </a:r>
              <a:r>
                <a:rPr lang="en-US" sz="205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of</a:t>
              </a:r>
              <a:r>
                <a:rPr lang="en-US" sz="205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the data</a:t>
              </a:r>
              <a:r>
                <a:rPr lang="en-US" sz="205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(20%) is used only for testing.</a:t>
              </a:r>
            </a:p>
            <a:p>
              <a:pPr algn="l" marL="0" indent="0" lvl="0">
                <a:lnSpc>
                  <a:spcPts val="2871"/>
                </a:lnSpc>
              </a:pPr>
              <a:r>
                <a:rPr lang="en-US" sz="205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This ensures the model doesn’t “memorize” data but actually learns patterns.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1519235">
            <a:off x="-1254734" y="8022865"/>
            <a:ext cx="3610441" cy="3610441"/>
          </a:xfrm>
          <a:custGeom>
            <a:avLst/>
            <a:gdLst/>
            <a:ahLst/>
            <a:cxnLst/>
            <a:rect r="r" b="b" t="t" l="l"/>
            <a:pathLst>
              <a:path h="3610441" w="3610441">
                <a:moveTo>
                  <a:pt x="0" y="0"/>
                </a:moveTo>
                <a:lnTo>
                  <a:pt x="3610441" y="0"/>
                </a:lnTo>
                <a:lnTo>
                  <a:pt x="3610441" y="3610441"/>
                </a:lnTo>
                <a:lnTo>
                  <a:pt x="0" y="36104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0185"/>
            <a:ext cx="14227659" cy="1637031"/>
            <a:chOff x="0" y="0"/>
            <a:chExt cx="18970212" cy="218270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99612" y="133350"/>
              <a:ext cx="18770600" cy="1483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b="true" sz="8000" spc="-160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Data Sou</a:t>
              </a:r>
              <a:r>
                <a:rPr lang="en-US" b="true" sz="8000" spc="-160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r</a:t>
              </a:r>
              <a:r>
                <a:rPr lang="en-US" b="true" sz="8000" spc="-160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ce — Y</a:t>
              </a:r>
              <a:r>
                <a:rPr lang="en-US" b="true" sz="8000" spc="-160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a</a:t>
              </a:r>
              <a:r>
                <a:rPr lang="en-US" b="true" sz="8000" spc="-160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hoo F</a:t>
              </a:r>
              <a:r>
                <a:rPr lang="en-US" b="true" sz="8000" spc="-160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in</a:t>
              </a:r>
              <a:r>
                <a:rPr lang="en-US" b="true" sz="8000" spc="-160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a</a:t>
              </a:r>
              <a:r>
                <a:rPr lang="en-US" b="true" sz="8000" spc="-160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n</a:t>
              </a:r>
              <a:r>
                <a:rPr lang="en-US" b="true" sz="8000" spc="-160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ce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502834"/>
              <a:ext cx="18770600" cy="679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0793" y="2566762"/>
            <a:ext cx="12749509" cy="112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7"/>
              </a:lnSpc>
              <a:spcBef>
                <a:spcPct val="0"/>
              </a:spcBef>
            </a:pPr>
            <a:r>
              <a:rPr lang="en-US" b="true" sz="2551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THE PROJECT USES REAL BITCOIN HISTORICAL DATA DOWNL</a:t>
            </a:r>
            <a:r>
              <a:rPr lang="en-US" b="true" sz="2551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OADED DIRECTLY FROM THE YAHOO FINANCE WEBSITE USING THE YFINANCE PYTHON LIBRARY.</a:t>
            </a:r>
          </a:p>
          <a:p>
            <a:pPr algn="l" marL="0" indent="0" lvl="0">
              <a:lnSpc>
                <a:spcPts val="2807"/>
              </a:lnSpc>
              <a:spcBef>
                <a:spcPct val="0"/>
              </a:spcBef>
            </a:pPr>
            <a:r>
              <a:rPr lang="en-US" b="true" sz="2551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 THE DATA INCLUDES DAILY PRICE INFORMATION SUCH AS: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6050" y="6521578"/>
            <a:ext cx="11135067" cy="2913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947" b="true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 • OPEN: THE PRICE AT THE START OF THE DAY</a:t>
            </a:r>
          </a:p>
          <a:p>
            <a:pPr algn="l">
              <a:lnSpc>
                <a:spcPts val="3241"/>
              </a:lnSpc>
            </a:pPr>
            <a:r>
              <a:rPr lang="en-US" sz="2947" b="true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 • High: highest price of the day</a:t>
            </a:r>
          </a:p>
          <a:p>
            <a:pPr algn="l">
              <a:lnSpc>
                <a:spcPts val="3241"/>
              </a:lnSpc>
            </a:pPr>
            <a:r>
              <a:rPr lang="en-US" sz="2947" b="true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 • Low: lowest price of the day</a:t>
            </a:r>
          </a:p>
          <a:p>
            <a:pPr algn="l">
              <a:lnSpc>
                <a:spcPts val="3241"/>
              </a:lnSpc>
            </a:pPr>
            <a:r>
              <a:rPr lang="en-US" sz="2947" b="true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 • Close: the final price of the day</a:t>
            </a:r>
          </a:p>
          <a:p>
            <a:pPr algn="l">
              <a:lnSpc>
                <a:spcPts val="3241"/>
              </a:lnSpc>
            </a:pPr>
            <a:r>
              <a:rPr lang="en-US" sz="2947" b="true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 • Volume: total traded Bitcoin that day</a:t>
            </a:r>
          </a:p>
          <a:p>
            <a:pPr algn="l" marL="0" indent="0" lvl="0">
              <a:lnSpc>
                <a:spcPts val="3241"/>
              </a:lnSpc>
              <a:spcBef>
                <a:spcPct val="0"/>
              </a:spcBef>
            </a:pPr>
            <a:r>
              <a:rPr lang="en-US" b="true" sz="2947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 • This data is used as the foundation for training the machine learning model and making predictions.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0" y="3727322"/>
            <a:ext cx="9294793" cy="2832356"/>
            <a:chOff x="0" y="0"/>
            <a:chExt cx="2001160" cy="6098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01160" cy="609804"/>
            </a:xfrm>
            <a:custGeom>
              <a:avLst/>
              <a:gdLst/>
              <a:ahLst/>
              <a:cxnLst/>
              <a:rect r="r" b="b" t="t" l="l"/>
              <a:pathLst>
                <a:path h="609804" w="2001160">
                  <a:moveTo>
                    <a:pt x="14993" y="0"/>
                  </a:moveTo>
                  <a:lnTo>
                    <a:pt x="1986168" y="0"/>
                  </a:lnTo>
                  <a:cubicBezTo>
                    <a:pt x="1990144" y="0"/>
                    <a:pt x="1993957" y="1580"/>
                    <a:pt x="1996769" y="4391"/>
                  </a:cubicBezTo>
                  <a:cubicBezTo>
                    <a:pt x="1999581" y="7203"/>
                    <a:pt x="2001160" y="11016"/>
                    <a:pt x="2001160" y="14993"/>
                  </a:cubicBezTo>
                  <a:lnTo>
                    <a:pt x="2001160" y="594811"/>
                  </a:lnTo>
                  <a:cubicBezTo>
                    <a:pt x="2001160" y="598787"/>
                    <a:pt x="1999581" y="602601"/>
                    <a:pt x="1996769" y="605412"/>
                  </a:cubicBezTo>
                  <a:cubicBezTo>
                    <a:pt x="1993957" y="608224"/>
                    <a:pt x="1990144" y="609804"/>
                    <a:pt x="1986168" y="609804"/>
                  </a:cubicBezTo>
                  <a:lnTo>
                    <a:pt x="14993" y="609804"/>
                  </a:lnTo>
                  <a:cubicBezTo>
                    <a:pt x="11016" y="609804"/>
                    <a:pt x="7203" y="608224"/>
                    <a:pt x="4391" y="605412"/>
                  </a:cubicBezTo>
                  <a:cubicBezTo>
                    <a:pt x="1580" y="602601"/>
                    <a:pt x="0" y="598787"/>
                    <a:pt x="0" y="594811"/>
                  </a:cubicBezTo>
                  <a:lnTo>
                    <a:pt x="0" y="14993"/>
                  </a:lnTo>
                  <a:cubicBezTo>
                    <a:pt x="0" y="11016"/>
                    <a:pt x="1580" y="7203"/>
                    <a:pt x="4391" y="4391"/>
                  </a:cubicBezTo>
                  <a:cubicBezTo>
                    <a:pt x="7203" y="1580"/>
                    <a:pt x="11016" y="0"/>
                    <a:pt x="1499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1576" r="0" b="-61576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45" y="2120517"/>
            <a:ext cx="5524455" cy="7353420"/>
            <a:chOff x="0" y="0"/>
            <a:chExt cx="1548689" cy="2061409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548689" cy="2061409"/>
            </a:xfrm>
            <a:custGeom>
              <a:avLst/>
              <a:gdLst/>
              <a:ahLst/>
              <a:cxnLst/>
              <a:rect r="r" b="b" t="t" l="l"/>
              <a:pathLst>
                <a:path h="2061409" w="1548689">
                  <a:moveTo>
                    <a:pt x="25225" y="0"/>
                  </a:moveTo>
                  <a:lnTo>
                    <a:pt x="1523464" y="0"/>
                  </a:lnTo>
                  <a:cubicBezTo>
                    <a:pt x="1537395" y="0"/>
                    <a:pt x="1548689" y="11294"/>
                    <a:pt x="1548689" y="25225"/>
                  </a:cubicBezTo>
                  <a:lnTo>
                    <a:pt x="1548689" y="2036184"/>
                  </a:lnTo>
                  <a:cubicBezTo>
                    <a:pt x="1548689" y="2050115"/>
                    <a:pt x="1537395" y="2061409"/>
                    <a:pt x="1523464" y="2061409"/>
                  </a:cubicBezTo>
                  <a:lnTo>
                    <a:pt x="25225" y="2061409"/>
                  </a:lnTo>
                  <a:cubicBezTo>
                    <a:pt x="11294" y="2061409"/>
                    <a:pt x="0" y="2050115"/>
                    <a:pt x="0" y="2036184"/>
                  </a:cubicBezTo>
                  <a:lnTo>
                    <a:pt x="0" y="25225"/>
                  </a:lnTo>
                  <a:cubicBezTo>
                    <a:pt x="0" y="11294"/>
                    <a:pt x="11294" y="0"/>
                    <a:pt x="2522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48689" cy="2061409"/>
            </a:xfrm>
            <a:prstGeom prst="rect">
              <a:avLst/>
            </a:prstGeom>
          </p:spPr>
          <p:txBody>
            <a:bodyPr anchor="ctr" rtlCol="false" tIns="33778" lIns="33778" bIns="33778" rIns="33778"/>
            <a:lstStyle/>
            <a:p>
              <a:pPr algn="ctr" marL="0" indent="0" lvl="0">
                <a:lnSpc>
                  <a:spcPts val="160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81750" y="2120517"/>
            <a:ext cx="5522073" cy="7353420"/>
            <a:chOff x="0" y="0"/>
            <a:chExt cx="1548021" cy="2061409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548021" cy="2061409"/>
            </a:xfrm>
            <a:custGeom>
              <a:avLst/>
              <a:gdLst/>
              <a:ahLst/>
              <a:cxnLst/>
              <a:rect r="r" b="b" t="t" l="l"/>
              <a:pathLst>
                <a:path h="2061409" w="1548021">
                  <a:moveTo>
                    <a:pt x="25236" y="0"/>
                  </a:moveTo>
                  <a:lnTo>
                    <a:pt x="1522785" y="0"/>
                  </a:lnTo>
                  <a:cubicBezTo>
                    <a:pt x="1529478" y="0"/>
                    <a:pt x="1535897" y="2659"/>
                    <a:pt x="1540630" y="7391"/>
                  </a:cubicBezTo>
                  <a:cubicBezTo>
                    <a:pt x="1545362" y="12124"/>
                    <a:pt x="1548021" y="18543"/>
                    <a:pt x="1548021" y="25236"/>
                  </a:cubicBezTo>
                  <a:lnTo>
                    <a:pt x="1548021" y="2036173"/>
                  </a:lnTo>
                  <a:cubicBezTo>
                    <a:pt x="1548021" y="2050110"/>
                    <a:pt x="1536723" y="2061409"/>
                    <a:pt x="1522785" y="2061409"/>
                  </a:cubicBezTo>
                  <a:lnTo>
                    <a:pt x="25236" y="2061409"/>
                  </a:lnTo>
                  <a:cubicBezTo>
                    <a:pt x="11299" y="2061409"/>
                    <a:pt x="0" y="2050110"/>
                    <a:pt x="0" y="2036173"/>
                  </a:cubicBezTo>
                  <a:lnTo>
                    <a:pt x="0" y="25236"/>
                  </a:lnTo>
                  <a:cubicBezTo>
                    <a:pt x="0" y="11299"/>
                    <a:pt x="11299" y="0"/>
                    <a:pt x="2523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548021" cy="2061409"/>
            </a:xfrm>
            <a:prstGeom prst="rect">
              <a:avLst/>
            </a:prstGeom>
          </p:spPr>
          <p:txBody>
            <a:bodyPr anchor="ctr" rtlCol="false" tIns="33778" lIns="33778" bIns="33778" rIns="33778"/>
            <a:lstStyle/>
            <a:p>
              <a:pPr algn="ctr" marL="0" indent="0" lvl="0">
                <a:lnSpc>
                  <a:spcPts val="160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906" y="2120517"/>
            <a:ext cx="6101948" cy="7353420"/>
            <a:chOff x="0" y="0"/>
            <a:chExt cx="1710579" cy="2061409"/>
          </a:xfrm>
        </p:grpSpPr>
        <p:sp>
          <p:nvSpPr>
            <p:cNvPr name="Freeform 9" id="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710580" cy="2061409"/>
            </a:xfrm>
            <a:custGeom>
              <a:avLst/>
              <a:gdLst/>
              <a:ahLst/>
              <a:cxnLst/>
              <a:rect r="r" b="b" t="t" l="l"/>
              <a:pathLst>
                <a:path h="2061409" w="1710580">
                  <a:moveTo>
                    <a:pt x="22838" y="0"/>
                  </a:moveTo>
                  <a:lnTo>
                    <a:pt x="1687742" y="0"/>
                  </a:lnTo>
                  <a:cubicBezTo>
                    <a:pt x="1700355" y="0"/>
                    <a:pt x="1710580" y="10225"/>
                    <a:pt x="1710580" y="22838"/>
                  </a:cubicBezTo>
                  <a:lnTo>
                    <a:pt x="1710580" y="2038571"/>
                  </a:lnTo>
                  <a:cubicBezTo>
                    <a:pt x="1710580" y="2051184"/>
                    <a:pt x="1700355" y="2061409"/>
                    <a:pt x="1687742" y="2061409"/>
                  </a:cubicBezTo>
                  <a:lnTo>
                    <a:pt x="22838" y="2061409"/>
                  </a:lnTo>
                  <a:cubicBezTo>
                    <a:pt x="10225" y="2061409"/>
                    <a:pt x="0" y="2051184"/>
                    <a:pt x="0" y="2038571"/>
                  </a:cubicBezTo>
                  <a:lnTo>
                    <a:pt x="0" y="22838"/>
                  </a:lnTo>
                  <a:cubicBezTo>
                    <a:pt x="0" y="10225"/>
                    <a:pt x="10225" y="0"/>
                    <a:pt x="2283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710579" cy="2061409"/>
            </a:xfrm>
            <a:prstGeom prst="rect">
              <a:avLst/>
            </a:prstGeom>
          </p:spPr>
          <p:txBody>
            <a:bodyPr anchor="ctr" rtlCol="false" tIns="33778" lIns="33778" bIns="33778" rIns="33778"/>
            <a:lstStyle/>
            <a:p>
              <a:pPr algn="ctr" marL="0" indent="0" lvl="0">
                <a:lnSpc>
                  <a:spcPts val="160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0236" y="4391866"/>
            <a:ext cx="5067273" cy="45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98"/>
              </a:lnSpc>
            </a:pPr>
            <a:r>
              <a:rPr lang="en-US" sz="3398" spc="-1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</a:t>
            </a:r>
            <a:r>
              <a:rPr lang="en-US" sz="3398" spc="-1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(Mean Abs</a:t>
            </a:r>
            <a:r>
              <a:rPr lang="en-US" sz="3398" spc="-1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ol</a:t>
            </a:r>
            <a:r>
              <a:rPr lang="en-US" sz="3398" spc="-1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3398" spc="-1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398" spc="-1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398" spc="-1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8" spc="-1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Error)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192073" y="4254177"/>
            <a:ext cx="5522072" cy="329993"/>
            <a:chOff x="0" y="0"/>
            <a:chExt cx="1454373" cy="869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54373" cy="86912"/>
            </a:xfrm>
            <a:custGeom>
              <a:avLst/>
              <a:gdLst/>
              <a:ahLst/>
              <a:cxnLst/>
              <a:rect r="r" b="b" t="t" l="l"/>
              <a:pathLst>
                <a:path h="86912" w="1454373">
                  <a:moveTo>
                    <a:pt x="0" y="0"/>
                  </a:moveTo>
                  <a:lnTo>
                    <a:pt x="1454373" y="0"/>
                  </a:lnTo>
                  <a:lnTo>
                    <a:pt x="1454373" y="86912"/>
                  </a:lnTo>
                  <a:lnTo>
                    <a:pt x="0" y="869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54373" cy="125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381751" y="4254177"/>
            <a:ext cx="5522072" cy="329993"/>
            <a:chOff x="0" y="0"/>
            <a:chExt cx="1454373" cy="869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54373" cy="86912"/>
            </a:xfrm>
            <a:custGeom>
              <a:avLst/>
              <a:gdLst/>
              <a:ahLst/>
              <a:cxnLst/>
              <a:rect r="r" b="b" t="t" l="l"/>
              <a:pathLst>
                <a:path h="86912" w="1454373">
                  <a:moveTo>
                    <a:pt x="0" y="0"/>
                  </a:moveTo>
                  <a:lnTo>
                    <a:pt x="1454373" y="0"/>
                  </a:lnTo>
                  <a:lnTo>
                    <a:pt x="1454373" y="86912"/>
                  </a:lnTo>
                  <a:lnTo>
                    <a:pt x="0" y="869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54373" cy="125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384760" y="4421001"/>
            <a:ext cx="5586489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4"/>
              </a:lnSpc>
              <a:spcBef>
                <a:spcPct val="0"/>
              </a:spcBef>
            </a:pPr>
            <a:r>
              <a:rPr lang="en-US" sz="3144" spc="-9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RMSE (Root M</a:t>
            </a:r>
            <a:r>
              <a:rPr lang="en-US" sz="3144" spc="-94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ean </a:t>
            </a:r>
            <a:r>
              <a:rPr lang="en-US" sz="3144" spc="-94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Squ</a:t>
            </a:r>
            <a:r>
              <a:rPr lang="en-US" sz="3144" spc="-94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144" spc="-94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</a:t>
            </a:r>
            <a:r>
              <a:rPr lang="en-US" sz="3144" spc="-94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Er</a:t>
            </a:r>
            <a:r>
              <a:rPr lang="en-US" sz="3144" spc="-94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ror</a:t>
            </a:r>
            <a:r>
              <a:rPr lang="en-US" sz="3144" spc="-94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906" y="4957449"/>
            <a:ext cx="5938191" cy="2008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3"/>
              </a:lnSpc>
            </a:pPr>
            <a:r>
              <a:rPr lang="en-US" sz="3113" spc="-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lang="en-US" sz="3113" spc="-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Measures h</a:t>
            </a:r>
            <a:r>
              <a:rPr lang="en-US" sz="3113" spc="-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ow m</a:t>
            </a:r>
            <a:r>
              <a:rPr lang="en-US" sz="3113" spc="-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uch </a:t>
            </a:r>
            <a:r>
              <a:rPr lang="en-US" sz="3113" spc="-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</a:t>
            </a:r>
            <a:r>
              <a:rPr lang="en-US" sz="3113" spc="-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</a:t>
            </a:r>
            <a:r>
              <a:rPr lang="en-US" sz="3113" spc="-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</a:t>
            </a:r>
            <a:r>
              <a:rPr lang="en-US" sz="3113" spc="-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redicted prices differ from the   real prices on average.</a:t>
            </a:r>
          </a:p>
          <a:p>
            <a:pPr algn="l" marL="0" indent="0" lvl="0">
              <a:lnSpc>
                <a:spcPts val="3113"/>
              </a:lnSpc>
            </a:pPr>
          </a:p>
          <a:p>
            <a:pPr algn="l" marL="0" indent="0" lvl="0">
              <a:lnSpc>
                <a:spcPts val="3113"/>
              </a:lnSpc>
            </a:pPr>
            <a:r>
              <a:rPr lang="en-US" sz="3113" spc="-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 Lower MAE = better predictions.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61794" y="5191125"/>
            <a:ext cx="5232421" cy="359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3"/>
              </a:lnSpc>
            </a:pPr>
            <a:r>
              <a:rPr lang="en-US" sz="3113" spc="-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• </a:t>
            </a:r>
            <a:r>
              <a:rPr lang="en-US" sz="3113" spc="-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Measures</a:t>
            </a:r>
            <a:r>
              <a:rPr lang="en-US" sz="3113" spc="-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</a:t>
            </a:r>
            <a:r>
              <a:rPr lang="en-US" sz="3113" spc="-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rediction error but gives extra weight to larger mistakes.</a:t>
            </a:r>
          </a:p>
          <a:p>
            <a:pPr algn="l" marL="0" indent="0" lvl="0">
              <a:lnSpc>
                <a:spcPts val="3113"/>
              </a:lnSpc>
            </a:pPr>
          </a:p>
          <a:p>
            <a:pPr algn="l" marL="0" indent="0" lvl="0">
              <a:lnSpc>
                <a:spcPts val="3113"/>
              </a:lnSpc>
            </a:pPr>
            <a:r>
              <a:rPr lang="en-US" sz="3113" spc="-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• Used widely in financial forecasting.</a:t>
            </a:r>
          </a:p>
          <a:p>
            <a:pPr algn="l" marL="0" indent="0" lvl="0">
              <a:lnSpc>
                <a:spcPts val="3113"/>
              </a:lnSpc>
            </a:pPr>
          </a:p>
          <a:p>
            <a:pPr algn="l" marL="0" indent="0" lvl="0">
              <a:lnSpc>
                <a:spcPts val="3113"/>
              </a:lnSpc>
            </a:pPr>
            <a:r>
              <a:rPr lang="en-US" sz="3113" spc="-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• Lower RMSE = better accuracy.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90180" y="4402629"/>
            <a:ext cx="5768469" cy="841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51"/>
              </a:lnSpc>
              <a:spcBef>
                <a:spcPct val="0"/>
              </a:spcBef>
            </a:pPr>
            <a:r>
              <a:rPr lang="en-US" sz="3251" spc="-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R² Score (Coefficient of Determination):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38098" y="5469510"/>
            <a:ext cx="4921202" cy="372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8"/>
              </a:lnSpc>
            </a:pPr>
            <a:r>
              <a:rPr lang="en-US" sz="2928" spc="-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• Shows how w</a:t>
            </a:r>
            <a:r>
              <a:rPr lang="en-US" sz="2928" spc="-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ell the model explains the</a:t>
            </a:r>
            <a:r>
              <a:rPr lang="en-US" sz="2928" spc="-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va</a:t>
            </a:r>
            <a:r>
              <a:rPr lang="en-US" sz="2928" spc="-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riation in real Bitcoin prices.</a:t>
            </a:r>
          </a:p>
          <a:p>
            <a:pPr algn="l" marL="0" indent="0" lvl="0">
              <a:lnSpc>
                <a:spcPts val="2928"/>
              </a:lnSpc>
            </a:pPr>
          </a:p>
          <a:p>
            <a:pPr algn="l" marL="0" indent="0" lvl="0">
              <a:lnSpc>
                <a:spcPts val="2928"/>
              </a:lnSpc>
            </a:pPr>
            <a:r>
              <a:rPr lang="en-US" sz="2928" spc="-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• R² ranges from 0 to 1, where:</a:t>
            </a:r>
          </a:p>
          <a:p>
            <a:pPr algn="l" marL="0" indent="0" lvl="0">
              <a:lnSpc>
                <a:spcPts val="2928"/>
              </a:lnSpc>
            </a:pPr>
            <a:r>
              <a:rPr lang="en-US" sz="2928" spc="-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• 1 = perfect prediction,</a:t>
            </a:r>
          </a:p>
          <a:p>
            <a:pPr algn="l" marL="0" indent="0" lvl="0">
              <a:lnSpc>
                <a:spcPts val="2928"/>
              </a:lnSpc>
            </a:pPr>
            <a:r>
              <a:rPr lang="en-US" sz="2928" spc="-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• 0 = model learned nothing.</a:t>
            </a:r>
          </a:p>
          <a:p>
            <a:pPr algn="l" marL="0" indent="0" lvl="0">
              <a:lnSpc>
                <a:spcPts val="2928"/>
              </a:lnSpc>
            </a:pPr>
          </a:p>
          <a:p>
            <a:pPr algn="l" marL="0" indent="0" lvl="0">
              <a:lnSpc>
                <a:spcPts val="2928"/>
              </a:lnSpc>
            </a:pPr>
            <a:r>
              <a:rPr lang="en-US" sz="2928" spc="-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• Higher R² means the model fits the data better.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1906" y="478963"/>
            <a:ext cx="6101948" cy="3775214"/>
            <a:chOff x="0" y="0"/>
            <a:chExt cx="1313744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13744" cy="812800"/>
            </a:xfrm>
            <a:custGeom>
              <a:avLst/>
              <a:gdLst/>
              <a:ahLst/>
              <a:cxnLst/>
              <a:rect r="r" b="b" t="t" l="l"/>
              <a:pathLst>
                <a:path h="812800" w="1313744">
                  <a:moveTo>
                    <a:pt x="22838" y="0"/>
                  </a:moveTo>
                  <a:lnTo>
                    <a:pt x="1290906" y="0"/>
                  </a:lnTo>
                  <a:cubicBezTo>
                    <a:pt x="1303519" y="0"/>
                    <a:pt x="1313744" y="10225"/>
                    <a:pt x="1313744" y="22838"/>
                  </a:cubicBezTo>
                  <a:lnTo>
                    <a:pt x="1313744" y="789962"/>
                  </a:lnTo>
                  <a:cubicBezTo>
                    <a:pt x="1313744" y="802575"/>
                    <a:pt x="1303519" y="812800"/>
                    <a:pt x="1290906" y="812800"/>
                  </a:cubicBezTo>
                  <a:lnTo>
                    <a:pt x="22838" y="812800"/>
                  </a:lnTo>
                  <a:cubicBezTo>
                    <a:pt x="10225" y="812800"/>
                    <a:pt x="0" y="802575"/>
                    <a:pt x="0" y="789962"/>
                  </a:cubicBezTo>
                  <a:lnTo>
                    <a:pt x="0" y="22838"/>
                  </a:lnTo>
                  <a:cubicBezTo>
                    <a:pt x="0" y="10225"/>
                    <a:pt x="10225" y="0"/>
                    <a:pt x="2283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954" r="0" b="-4954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384760" y="588638"/>
            <a:ext cx="5524527" cy="3775214"/>
            <a:chOff x="0" y="0"/>
            <a:chExt cx="1189426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89426" cy="812800"/>
            </a:xfrm>
            <a:custGeom>
              <a:avLst/>
              <a:gdLst/>
              <a:ahLst/>
              <a:cxnLst/>
              <a:rect r="r" b="b" t="t" l="l"/>
              <a:pathLst>
                <a:path h="812800" w="1189426">
                  <a:moveTo>
                    <a:pt x="25225" y="0"/>
                  </a:moveTo>
                  <a:lnTo>
                    <a:pt x="1164201" y="0"/>
                  </a:lnTo>
                  <a:cubicBezTo>
                    <a:pt x="1170891" y="0"/>
                    <a:pt x="1177307" y="2658"/>
                    <a:pt x="1182037" y="7388"/>
                  </a:cubicBezTo>
                  <a:cubicBezTo>
                    <a:pt x="1186768" y="12119"/>
                    <a:pt x="1189426" y="18535"/>
                    <a:pt x="1189426" y="25225"/>
                  </a:cubicBezTo>
                  <a:lnTo>
                    <a:pt x="1189426" y="787575"/>
                  </a:lnTo>
                  <a:cubicBezTo>
                    <a:pt x="1189426" y="801507"/>
                    <a:pt x="1178132" y="812800"/>
                    <a:pt x="1164201" y="812800"/>
                  </a:cubicBezTo>
                  <a:lnTo>
                    <a:pt x="25225" y="812800"/>
                  </a:lnTo>
                  <a:cubicBezTo>
                    <a:pt x="11293" y="812800"/>
                    <a:pt x="0" y="801507"/>
                    <a:pt x="0" y="787575"/>
                  </a:cubicBezTo>
                  <a:lnTo>
                    <a:pt x="0" y="25225"/>
                  </a:lnTo>
                  <a:cubicBezTo>
                    <a:pt x="0" y="11293"/>
                    <a:pt x="11293" y="0"/>
                    <a:pt x="25225" y="0"/>
                  </a:cubicBezTo>
                  <a:close/>
                </a:path>
              </a:pathLst>
            </a:custGeom>
            <a:blipFill>
              <a:blip r:embed="rId3"/>
              <a:stretch>
                <a:fillRect l="-246" t="0" r="-246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192073" y="478963"/>
            <a:ext cx="5524527" cy="3775214"/>
            <a:chOff x="0" y="0"/>
            <a:chExt cx="1189426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89426" cy="812800"/>
            </a:xfrm>
            <a:custGeom>
              <a:avLst/>
              <a:gdLst/>
              <a:ahLst/>
              <a:cxnLst/>
              <a:rect r="r" b="b" t="t" l="l"/>
              <a:pathLst>
                <a:path h="812800" w="1189426">
                  <a:moveTo>
                    <a:pt x="25225" y="0"/>
                  </a:moveTo>
                  <a:lnTo>
                    <a:pt x="1164201" y="0"/>
                  </a:lnTo>
                  <a:cubicBezTo>
                    <a:pt x="1170891" y="0"/>
                    <a:pt x="1177307" y="2658"/>
                    <a:pt x="1182037" y="7388"/>
                  </a:cubicBezTo>
                  <a:cubicBezTo>
                    <a:pt x="1186768" y="12119"/>
                    <a:pt x="1189426" y="18535"/>
                    <a:pt x="1189426" y="25225"/>
                  </a:cubicBezTo>
                  <a:lnTo>
                    <a:pt x="1189426" y="787575"/>
                  </a:lnTo>
                  <a:cubicBezTo>
                    <a:pt x="1189426" y="801507"/>
                    <a:pt x="1178132" y="812800"/>
                    <a:pt x="1164201" y="812800"/>
                  </a:cubicBezTo>
                  <a:lnTo>
                    <a:pt x="25225" y="812800"/>
                  </a:lnTo>
                  <a:cubicBezTo>
                    <a:pt x="11293" y="812800"/>
                    <a:pt x="0" y="801507"/>
                    <a:pt x="0" y="787575"/>
                  </a:cubicBezTo>
                  <a:lnTo>
                    <a:pt x="0" y="25225"/>
                  </a:lnTo>
                  <a:cubicBezTo>
                    <a:pt x="0" y="11293"/>
                    <a:pt x="11293" y="0"/>
                    <a:pt x="25225" y="0"/>
                  </a:cubicBezTo>
                  <a:close/>
                </a:path>
              </a:pathLst>
            </a:custGeom>
            <a:blipFill>
              <a:blip r:embed="rId4"/>
              <a:stretch>
                <a:fillRect l="-246" t="0" r="-246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521531"/>
            <a:ext cx="6698001" cy="2131214"/>
            <a:chOff x="0" y="0"/>
            <a:chExt cx="8930667" cy="28416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7692338" cy="584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54"/>
                </a:lnSpc>
                <a:spcBef>
                  <a:spcPct val="0"/>
                </a:spcBef>
              </a:pPr>
              <a:r>
                <a:rPr lang="en-US" b="true" sz="2776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C</a:t>
              </a:r>
              <a:r>
                <a:rPr lang="en-US" b="true" sz="2776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OL</a:t>
              </a:r>
              <a:r>
                <a:rPr lang="en-US" b="true" sz="2776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LEC</a:t>
              </a:r>
              <a:r>
                <a:rPr lang="en-US" b="true" sz="2776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TI</a:t>
              </a:r>
              <a:r>
                <a:rPr lang="en-US" b="true" sz="2776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NG AND C</a:t>
              </a:r>
              <a:r>
                <a:rPr lang="en-US" b="true" sz="2776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L</a:t>
              </a:r>
              <a:r>
                <a:rPr lang="en-US" b="true" sz="2776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EAN</a:t>
              </a:r>
              <a:r>
                <a:rPr lang="en-US" b="true" sz="2776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I</a:t>
              </a:r>
              <a:r>
                <a:rPr lang="en-US" b="true" sz="2776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NG DA</a:t>
              </a:r>
              <a:r>
                <a:rPr lang="en-US" b="true" sz="2776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T</a:t>
              </a:r>
              <a:r>
                <a:rPr lang="en-US" b="true" sz="2776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13660"/>
              <a:ext cx="8930667" cy="1727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1"/>
                </a:lnSpc>
              </a:pPr>
              <a:r>
                <a:rPr lang="en-US" sz="185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The website data may be incomplete, messy, or blocked.</a:t>
              </a:r>
            </a:p>
            <a:p>
              <a:pPr algn="l">
                <a:lnSpc>
                  <a:spcPts val="2591"/>
                </a:lnSpc>
              </a:pPr>
              <a:r>
                <a:rPr lang="en-US" sz="1851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We must clean and prepare the data before using it.</a:t>
              </a:r>
            </a:p>
            <a:p>
              <a:pPr algn="l" marL="0" indent="0" lvl="0">
                <a:lnSpc>
                  <a:spcPts val="259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44582" y="4521531"/>
            <a:ext cx="9111210" cy="1546334"/>
            <a:chOff x="0" y="0"/>
            <a:chExt cx="12148279" cy="206177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8100"/>
              <a:ext cx="10820400" cy="641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2"/>
                </a:lnSpc>
              </a:pPr>
              <a:r>
                <a:rPr lang="en-US" b="true" sz="3011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TR</a:t>
              </a:r>
              <a:r>
                <a:rPr lang="en-US" b="true" sz="3011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A</a:t>
              </a:r>
              <a:r>
                <a:rPr lang="en-US" b="true" sz="3011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IN</a:t>
              </a:r>
              <a:r>
                <a:rPr lang="en-US" b="true" sz="3011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I</a:t>
              </a:r>
              <a:r>
                <a:rPr lang="en-US" b="true" sz="3011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NG </a:t>
              </a:r>
              <a:r>
                <a:rPr lang="en-US" b="true" sz="3011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T</a:t>
              </a:r>
              <a:r>
                <a:rPr lang="en-US" b="true" sz="3011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HE MACHINE LEARNING MODEL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41899"/>
              <a:ext cx="12148279" cy="14198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10"/>
                </a:lnSpc>
              </a:pPr>
              <a:r>
                <a:rPr lang="en-US" b="true" sz="2007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 •</a:t>
              </a:r>
              <a:r>
                <a:rPr lang="en-US" b="true" sz="2007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 Choosing the right model and getting a good R² score is difficult.</a:t>
              </a:r>
            </a:p>
            <a:p>
              <a:pPr algn="l" marL="0" indent="0" lvl="0">
                <a:lnSpc>
                  <a:spcPts val="2810"/>
                </a:lnSpc>
              </a:pPr>
              <a:r>
                <a:rPr lang="en-US" b="true" sz="2007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 • The model may learn too much or too little, giving weak predictions.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800100"/>
            <a:ext cx="15516225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pc="-160" strike="noStrike" u="none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Challenges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573066"/>
            <a:ext cx="546762" cy="546762"/>
            <a:chOff x="0" y="0"/>
            <a:chExt cx="729016" cy="72901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729016" cy="729016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80779" y="68607"/>
              <a:ext cx="567459" cy="534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Farro Bold"/>
                  <a:ea typeface="Farro Bold"/>
                  <a:cs typeface="Farro Bold"/>
                  <a:sym typeface="Farro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0" y="3573066"/>
            <a:ext cx="546762" cy="546762"/>
            <a:chOff x="0" y="0"/>
            <a:chExt cx="729016" cy="72901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729016" cy="729016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80779" y="68607"/>
              <a:ext cx="567459" cy="534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Farro Bold"/>
                  <a:ea typeface="Farro Bold"/>
                  <a:cs typeface="Farro Bold"/>
                  <a:sym typeface="Farro Bold"/>
                </a:rPr>
                <a:t>2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2246531">
            <a:off x="-1693248" y="7535916"/>
            <a:ext cx="4168669" cy="4168669"/>
          </a:xfrm>
          <a:custGeom>
            <a:avLst/>
            <a:gdLst/>
            <a:ahLst/>
            <a:cxnLst/>
            <a:rect r="r" b="b" t="t" l="l"/>
            <a:pathLst>
              <a:path h="4168669" w="4168669">
                <a:moveTo>
                  <a:pt x="0" y="0"/>
                </a:moveTo>
                <a:lnTo>
                  <a:pt x="4168668" y="0"/>
                </a:lnTo>
                <a:lnTo>
                  <a:pt x="4168668" y="4168668"/>
                </a:lnTo>
                <a:lnTo>
                  <a:pt x="0" y="4168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2240" y="4363188"/>
            <a:ext cx="8910413" cy="1975382"/>
            <a:chOff x="0" y="0"/>
            <a:chExt cx="11880551" cy="263384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197469" cy="518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88"/>
                </a:lnSpc>
                <a:spcBef>
                  <a:spcPct val="0"/>
                </a:spcBef>
              </a:pPr>
              <a:r>
                <a:rPr lang="en-US" b="true" sz="2444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USE A MOR</a:t>
              </a:r>
              <a:r>
                <a:rPr lang="en-US" b="true" sz="2444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E</a:t>
              </a:r>
              <a:r>
                <a:rPr lang="en-US" b="true" sz="2444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 ADVA</a:t>
              </a:r>
              <a:r>
                <a:rPr lang="en-US" b="true" sz="2444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N</a:t>
              </a:r>
              <a:r>
                <a:rPr lang="en-US" b="true" sz="2444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CED MACH</a:t>
              </a:r>
              <a:r>
                <a:rPr lang="en-US" b="true" sz="2444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IN</a:t>
              </a:r>
              <a:r>
                <a:rPr lang="en-US" b="true" sz="2444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E</a:t>
              </a:r>
              <a:r>
                <a:rPr lang="en-US" b="true" sz="2444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 </a:t>
              </a:r>
              <a:r>
                <a:rPr lang="en-US" b="true" sz="2444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LE</a:t>
              </a:r>
              <a:r>
                <a:rPr lang="en-US" b="true" sz="2444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A</a:t>
              </a:r>
              <a:r>
                <a:rPr lang="en-US" b="true" sz="2444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RN</a:t>
              </a:r>
              <a:r>
                <a:rPr lang="en-US" b="true" sz="2444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I</a:t>
              </a:r>
              <a:r>
                <a:rPr lang="en-US" b="true" sz="2444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NG MODEL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43824"/>
              <a:ext cx="11880551" cy="1690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Re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place Line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ar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Regr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e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ssion wi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t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h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model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s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lik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e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Ra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n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do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m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For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e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s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t</a:t>
              </a: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or XGBoost</a:t>
              </a:r>
            </a:p>
            <a:p>
              <a:pPr algn="l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to improve accuracy and get a higher R² score.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37424" y="4204077"/>
            <a:ext cx="7950576" cy="2292689"/>
            <a:chOff x="0" y="0"/>
            <a:chExt cx="10600768" cy="305691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8100"/>
              <a:ext cx="10600768" cy="759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60"/>
                </a:lnSpc>
              </a:pPr>
              <a:r>
                <a:rPr lang="en-US" b="true" sz="3600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D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E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PLOY 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T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H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E 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MOD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E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L AS A W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E</a:t>
              </a:r>
              <a:r>
                <a:rPr lang="en-US" b="true" sz="3600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B APP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07749"/>
              <a:ext cx="7264400" cy="2249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• Create 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an online 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da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shbo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rd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where 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u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sers can en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t</a:t>
              </a: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er values</a:t>
              </a:r>
            </a:p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and instantly get predictions from the model.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800100"/>
            <a:ext cx="15516225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pc="-160" strike="noStrike" u="none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Future Improvements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81657" y="3456832"/>
            <a:ext cx="546762" cy="546762"/>
            <a:chOff x="0" y="0"/>
            <a:chExt cx="729016" cy="72901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729016" cy="729016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80779" y="68607"/>
              <a:ext cx="567459" cy="534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Farro Bold"/>
                  <a:ea typeface="Farro Bold"/>
                  <a:cs typeface="Farro Bold"/>
                  <a:sym typeface="Farro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734675" y="3456832"/>
            <a:ext cx="546762" cy="546762"/>
            <a:chOff x="0" y="0"/>
            <a:chExt cx="729016" cy="72901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729016" cy="729016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80779" y="68607"/>
              <a:ext cx="567459" cy="534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0000"/>
                  </a:solidFill>
                  <a:latin typeface="Farro Bold"/>
                  <a:ea typeface="Farro Bold"/>
                  <a:cs typeface="Farro Bold"/>
                  <a:sym typeface="Farro Bold"/>
                </a:rPr>
                <a:t>2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2246531">
            <a:off x="-1693248" y="7535916"/>
            <a:ext cx="4168669" cy="4168669"/>
          </a:xfrm>
          <a:custGeom>
            <a:avLst/>
            <a:gdLst/>
            <a:ahLst/>
            <a:cxnLst/>
            <a:rect r="r" b="b" t="t" l="l"/>
            <a:pathLst>
              <a:path h="4168669" w="4168669">
                <a:moveTo>
                  <a:pt x="0" y="0"/>
                </a:moveTo>
                <a:lnTo>
                  <a:pt x="4168668" y="0"/>
                </a:lnTo>
                <a:lnTo>
                  <a:pt x="4168668" y="4168668"/>
                </a:lnTo>
                <a:lnTo>
                  <a:pt x="0" y="4168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0" y="6697248"/>
            <a:ext cx="18288000" cy="3589752"/>
            <a:chOff x="0" y="0"/>
            <a:chExt cx="1790173" cy="35139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90173" cy="351393"/>
            </a:xfrm>
            <a:custGeom>
              <a:avLst/>
              <a:gdLst/>
              <a:ahLst/>
              <a:cxnLst/>
              <a:rect r="r" b="b" t="t" l="l"/>
              <a:pathLst>
                <a:path h="351393" w="1790173">
                  <a:moveTo>
                    <a:pt x="0" y="0"/>
                  </a:moveTo>
                  <a:lnTo>
                    <a:pt x="1790173" y="0"/>
                  </a:lnTo>
                  <a:lnTo>
                    <a:pt x="1790173" y="351393"/>
                  </a:lnTo>
                  <a:lnTo>
                    <a:pt x="0" y="351393"/>
                  </a:lnTo>
                  <a:close/>
                </a:path>
              </a:pathLst>
            </a:custGeom>
            <a:blipFill>
              <a:blip r:embed="rId4"/>
              <a:stretch>
                <a:fillRect l="0" t="-56029" r="0" b="-56029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9850" y="666750"/>
            <a:ext cx="11201400" cy="8953500"/>
            <a:chOff x="0" y="0"/>
            <a:chExt cx="750395" cy="5998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395" cy="599805"/>
            </a:xfrm>
            <a:custGeom>
              <a:avLst/>
              <a:gdLst/>
              <a:ahLst/>
              <a:cxnLst/>
              <a:rect r="r" b="b" t="t" l="l"/>
              <a:pathLst>
                <a:path h="599805" w="750395">
                  <a:moveTo>
                    <a:pt x="34558" y="0"/>
                  </a:moveTo>
                  <a:lnTo>
                    <a:pt x="715837" y="0"/>
                  </a:lnTo>
                  <a:cubicBezTo>
                    <a:pt x="734923" y="0"/>
                    <a:pt x="750395" y="15472"/>
                    <a:pt x="750395" y="34558"/>
                  </a:cubicBezTo>
                  <a:lnTo>
                    <a:pt x="750395" y="565247"/>
                  </a:lnTo>
                  <a:cubicBezTo>
                    <a:pt x="750395" y="584333"/>
                    <a:pt x="734923" y="599805"/>
                    <a:pt x="715837" y="599805"/>
                  </a:cubicBezTo>
                  <a:lnTo>
                    <a:pt x="34558" y="599805"/>
                  </a:lnTo>
                  <a:cubicBezTo>
                    <a:pt x="15472" y="599805"/>
                    <a:pt x="0" y="584333"/>
                    <a:pt x="0" y="565247"/>
                  </a:cubicBezTo>
                  <a:lnTo>
                    <a:pt x="0" y="34558"/>
                  </a:lnTo>
                  <a:cubicBezTo>
                    <a:pt x="0" y="15472"/>
                    <a:pt x="15472" y="0"/>
                    <a:pt x="34558" y="0"/>
                  </a:cubicBezTo>
                  <a:close/>
                </a:path>
              </a:pathLst>
            </a:custGeom>
            <a:blipFill>
              <a:blip r:embed="rId2"/>
              <a:stretch>
                <a:fillRect l="-350" t="0" r="-350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857250"/>
            <a:ext cx="5448300" cy="286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00"/>
              </a:lnSpc>
              <a:spcBef>
                <a:spcPct val="0"/>
              </a:spcBef>
            </a:pPr>
            <a:r>
              <a:rPr lang="en-US" b="true" sz="11000" spc="-220" strike="noStrike" u="none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2246531">
            <a:off x="-1693248" y="7535916"/>
            <a:ext cx="4168669" cy="4168669"/>
          </a:xfrm>
          <a:custGeom>
            <a:avLst/>
            <a:gdLst/>
            <a:ahLst/>
            <a:cxnLst/>
            <a:rect r="r" b="b" t="t" l="l"/>
            <a:pathLst>
              <a:path h="4168669" w="4168669">
                <a:moveTo>
                  <a:pt x="0" y="0"/>
                </a:moveTo>
                <a:lnTo>
                  <a:pt x="4168668" y="0"/>
                </a:lnTo>
                <a:lnTo>
                  <a:pt x="4168668" y="4168668"/>
                </a:lnTo>
                <a:lnTo>
                  <a:pt x="0" y="4168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عرض تقديمي - Machine Learning for Bitcoin</dc:description>
  <dc:identifier>DAG69lTWjOI</dc:identifier>
  <dcterms:modified xsi:type="dcterms:W3CDTF">2011-08-01T06:04:30Z</dcterms:modified>
  <cp:revision>1</cp:revision>
  <dc:title>عرض تقديمي - Machine Learning for Bitcoin</dc:title>
</cp:coreProperties>
</file>